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4503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029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600" b="1" dirty="0" smtClean="0">
                <a:solidFill>
                  <a:srgbClr val="64748B"/>
                </a:solidFill>
              </a:rPr>
              <a:t>Кваліфікаційна робота бакалавра</a:t>
            </a:r>
            <a:endParaRPr lang="uk-UA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078992"/>
            <a:ext cx="106070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uk-UA" sz="3200" b="1" dirty="0" err="1" smtClean="0">
                <a:solidFill>
                  <a:srgbClr val="1F3B63"/>
                </a:solidFill>
              </a:rPr>
              <a:t>Вебсистема</a:t>
            </a:r>
            <a:r>
              <a:rPr lang="uk-UA" sz="3200" b="1" dirty="0" smtClean="0">
                <a:solidFill>
                  <a:srgbClr val="1F3B63"/>
                </a:solidFill>
              </a:rPr>
              <a:t> </a:t>
            </a:r>
            <a:r>
              <a:rPr lang="uk-UA" sz="3200" b="1" dirty="0" err="1" smtClean="0">
                <a:solidFill>
                  <a:srgbClr val="1F3B63"/>
                </a:solidFill>
              </a:rPr>
              <a:t>Dialogly</a:t>
            </a:r>
            <a:r>
              <a:rPr lang="uk-UA" sz="3200" b="1" dirty="0" smtClean="0">
                <a:solidFill>
                  <a:srgbClr val="1F3B63"/>
                </a:solidFill>
              </a:rPr>
              <a:t> для централізованого управління бізнес-чатами у </a:t>
            </a:r>
            <a:r>
              <a:rPr lang="uk-UA" sz="3200" b="1" dirty="0" err="1" smtClean="0">
                <a:solidFill>
                  <a:srgbClr val="1F3B63"/>
                </a:solidFill>
              </a:rPr>
              <a:t>мультиканальному</a:t>
            </a:r>
            <a:r>
              <a:rPr lang="uk-UA" sz="3200" b="1" dirty="0" smtClean="0">
                <a:solidFill>
                  <a:srgbClr val="1F3B63"/>
                </a:solidFill>
              </a:rPr>
              <a:t> середовищі. </a:t>
            </a:r>
            <a:r>
              <a:rPr lang="uk-UA" sz="3200" b="1" dirty="0" err="1" smtClean="0">
                <a:solidFill>
                  <a:srgbClr val="1F3B63"/>
                </a:solidFill>
              </a:rPr>
              <a:t>Back-end</a:t>
            </a:r>
            <a:endParaRPr lang="uk-UA" sz="3200" dirty="0"/>
          </a:p>
        </p:txBody>
      </p:sp>
      <p:sp>
        <p:nvSpPr>
          <p:cNvPr id="7" name="Shape 5"/>
          <p:cNvSpPr/>
          <p:nvPr/>
        </p:nvSpPr>
        <p:spPr>
          <a:xfrm>
            <a:off x="685800" y="2743200"/>
            <a:ext cx="4937760" cy="1508760"/>
          </a:xfrm>
          <a:prstGeom prst="roundRect">
            <a:avLst>
              <a:gd name="adj" fmla="val 7273"/>
            </a:avLst>
          </a:prstGeom>
          <a:solidFill>
            <a:srgbClr val="F7FAFC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971800"/>
            <a:ext cx="44805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5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Виконав: Щербак </a:t>
            </a:r>
            <a:r>
              <a:rPr lang="uk-UA" sz="15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Данііл</a:t>
            </a:r>
            <a:r>
              <a:rPr lang="uk-UA" sz="15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Сергійович</a:t>
            </a:r>
            <a:endParaRPr lang="uk-UA" sz="1500" dirty="0" smtClean="0"/>
          </a:p>
          <a:p>
            <a:pPr marL="0" indent="0" algn="l">
              <a:buNone/>
            </a:pPr>
            <a:r>
              <a:rPr lang="uk-UA" sz="15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група ПЗПІ-22-4</a:t>
            </a:r>
            <a:endParaRPr lang="uk-UA" sz="1500" dirty="0" smtClean="0"/>
          </a:p>
          <a:p>
            <a:pPr marL="0" indent="0" algn="l">
              <a:buNone/>
            </a:pPr>
            <a:r>
              <a:rPr lang="uk-UA" sz="15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Керівник: доц. кафедри ПІ Ірина Кириченко</a:t>
            </a:r>
            <a:endParaRPr lang="uk-UA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651052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900" dirty="0" smtClean="0">
                <a:solidFill>
                  <a:srgbClr val="64748B"/>
                </a:solidFill>
              </a:rPr>
              <a:t>Харківський національний університет радіоелектроніки • 2026</a:t>
            </a:r>
            <a:endParaRPr lang="uk-UA" sz="900" dirty="0"/>
          </a:p>
        </p:txBody>
      </p:sp>
      <p:sp>
        <p:nvSpPr>
          <p:cNvPr id="18" name="Text 16"/>
          <p:cNvSpPr/>
          <p:nvPr/>
        </p:nvSpPr>
        <p:spPr>
          <a:xfrm>
            <a:off x="11384280" y="656539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</a:t>
            </a:r>
            <a:endParaRPr lang="en-US" sz="800" dirty="0"/>
          </a:p>
        </p:txBody>
      </p:sp>
      <p:sp>
        <p:nvSpPr>
          <p:cNvPr id="19" name="Rounded Rectangle 18"/>
          <p:cNvSpPr/>
          <p:nvPr/>
        </p:nvSpPr>
        <p:spPr>
          <a:xfrm>
            <a:off x="7269480" y="2606040"/>
            <a:ext cx="1965960" cy="594360"/>
          </a:xfrm>
          <a:prstGeom prst="roundRect">
            <a:avLst>
              <a:gd name="adj" fmla="val 18000"/>
            </a:avLst>
          </a:prstGeom>
          <a:solidFill>
            <a:srgbClr val="EAF2FB"/>
          </a:solidFill>
          <a:ln w="12700">
            <a:solidFill>
              <a:srgbClr val="C7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F3B63"/>
                </a:solidFill>
                <a:latin typeface="Calibri"/>
              </a:rPr>
              <a:t>Telegram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2606040"/>
            <a:ext cx="1965960" cy="594360"/>
          </a:xfrm>
          <a:prstGeom prst="roundRect">
            <a:avLst>
              <a:gd name="adj" fmla="val 18000"/>
            </a:avLst>
          </a:prstGeom>
          <a:solidFill>
            <a:srgbClr val="ECFDF5"/>
          </a:solidFill>
          <a:ln w="12700">
            <a:solidFill>
              <a:srgbClr val="B7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F3B63"/>
                </a:solidFill>
                <a:latin typeface="Calibri"/>
              </a:rPr>
              <a:t>Messenger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977639"/>
            <a:ext cx="2148840" cy="658368"/>
          </a:xfrm>
          <a:prstGeom prst="roundRect">
            <a:avLst>
              <a:gd name="adj" fmla="val 18000"/>
            </a:avLst>
          </a:prstGeom>
          <a:solidFill>
            <a:srgbClr val="FFF7ED"/>
          </a:solidFill>
          <a:ln w="12700">
            <a:solidFill>
              <a:srgbClr val="FBD3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9C4A0A"/>
                </a:solidFill>
                <a:latin typeface="Calibri"/>
              </a:rPr>
              <a:t>Dialogly API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52460" y="3200400"/>
            <a:ext cx="624535" cy="777239"/>
          </a:xfrm>
          <a:prstGeom prst="line">
            <a:avLst/>
          </a:prstGeom>
          <a:ln w="25400">
            <a:solidFill>
              <a:srgbClr val="2B6CB0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9822484" y="3200400"/>
            <a:ext cx="624535" cy="777239"/>
          </a:xfrm>
          <a:prstGeom prst="line">
            <a:avLst/>
          </a:prstGeom>
          <a:ln w="25400">
            <a:solidFill>
              <a:srgbClr val="14B8A6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 теми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384280" y="656539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Вебсистема Dialogly для централізованого управління бізнес-чатами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097280"/>
            <a:ext cx="3474720" cy="2423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blurRad="88900" dist="31750" dir="5400000" rotWithShape="0">
              <a:srgbClr val="0F172A">
                <a:alpha val="8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248" y="1847088"/>
            <a:ext cx="31546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бізнесу</a:t>
            </a:r>
            <a:endParaRPr lang="uk-UA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231136"/>
            <a:ext cx="3154680" cy="11064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Компанії спілкуються з клієнтами одразу у кількох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месенджерах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Перемикання між застосунками підвищує ризик пропущених повідомлень, дублювання відповідей і повільної реакції.</a:t>
            </a:r>
            <a:endParaRPr lang="uk-UA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097280"/>
            <a:ext cx="3474720" cy="2423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blurRad="88900" dist="31750" dir="5400000" rotWithShape="0">
              <a:srgbClr val="0F172A">
                <a:alpha val="8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36008" y="1847088"/>
            <a:ext cx="31546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Недолік існуючих рішень</a:t>
            </a:r>
            <a:endParaRPr lang="uk-UA" sz="1400" dirty="0"/>
          </a:p>
        </p:txBody>
      </p:sp>
      <p:sp>
        <p:nvSpPr>
          <p:cNvPr id="15" name="Text 13"/>
          <p:cNvSpPr/>
          <p:nvPr/>
        </p:nvSpPr>
        <p:spPr>
          <a:xfrm>
            <a:off x="4636008" y="2231136"/>
            <a:ext cx="3154680" cy="11064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Готові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омніканальні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платформи часто орієнтовані на великі компанії, мають високу вартість або закриту архітектуру, що ускладнює адаптацію.</a:t>
            </a:r>
            <a:endParaRPr lang="uk-UA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1097280"/>
            <a:ext cx="3291840" cy="24231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blurRad="88900" dist="31750" dir="5400000" rotWithShape="0">
              <a:srgbClr val="0F172A">
                <a:alpha val="8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30768" y="1847088"/>
            <a:ext cx="29718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Ідея </a:t>
            </a:r>
            <a:r>
              <a:rPr lang="uk-UA" sz="1400" b="1" dirty="0" err="1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Dialogly</a:t>
            </a:r>
            <a:endParaRPr lang="uk-UA" sz="1400" dirty="0"/>
          </a:p>
        </p:txBody>
      </p:sp>
      <p:sp>
        <p:nvSpPr>
          <p:cNvPr id="19" name="Text 17"/>
          <p:cNvSpPr/>
          <p:nvPr/>
        </p:nvSpPr>
        <p:spPr>
          <a:xfrm>
            <a:off x="8430768" y="2231136"/>
            <a:ext cx="2971800" cy="11064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Dialogly об’єднує бізнес-чати з кількох месенджерів в одному інтерфейсі, з підтримкою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-моделі для командної роботи, рольового доступу та підключення нових каналів комунікації.</a:t>
            </a:r>
            <a:endParaRPr lang="uk-UA" sz="1200" dirty="0"/>
          </a:p>
        </p:txBody>
      </p:sp>
      <p:sp>
        <p:nvSpPr>
          <p:cNvPr id="20" name="Oval 19"/>
          <p:cNvSpPr/>
          <p:nvPr/>
        </p:nvSpPr>
        <p:spPr>
          <a:xfrm>
            <a:off x="859536" y="1316736"/>
            <a:ext cx="420624" cy="42062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aTriangleExcla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98" y="1426098"/>
            <a:ext cx="201899" cy="201899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4654296" y="131673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FaLayerGro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658" y="1426098"/>
            <a:ext cx="201899" cy="201899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8449056" y="1316736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FaComm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418" y="1426098"/>
            <a:ext cx="201899" cy="2018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uk-UA" sz="2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Мета, об’єкт і предмет роботи</a:t>
            </a:r>
            <a:endParaRPr lang="uk-UA" sz="2400" dirty="0"/>
          </a:p>
        </p:txBody>
      </p:sp>
      <p:sp>
        <p:nvSpPr>
          <p:cNvPr id="6" name="Text 4"/>
          <p:cNvSpPr/>
          <p:nvPr/>
        </p:nvSpPr>
        <p:spPr>
          <a:xfrm>
            <a:off x="11384280" y="656539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Вебсистема Dialogly для централізованого управління бізнес-чатами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085452"/>
            <a:ext cx="5212080" cy="1325880"/>
          </a:xfrm>
          <a:prstGeom prst="roundRect">
            <a:avLst>
              <a:gd name="adj" fmla="val 8276"/>
            </a:avLst>
          </a:prstGeom>
          <a:solidFill>
            <a:srgbClr val="F7FAFC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097280"/>
            <a:ext cx="54864" cy="13258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261872"/>
            <a:ext cx="48920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 роботи</a:t>
            </a:r>
            <a:endParaRPr lang="uk-UA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1627632"/>
            <a:ext cx="48920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Спроєктувати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й реалізувати серверну частину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вебзастосунку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для збереження та обробки даних, JWT-авторизації, персонального та корпоративного режимів роботи.</a:t>
            </a:r>
            <a:endParaRPr lang="uk-UA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5212080" cy="1143000"/>
          </a:xfrm>
          <a:prstGeom prst="roundRect">
            <a:avLst>
              <a:gd name="adj" fmla="val 9600"/>
            </a:avLst>
          </a:prstGeom>
          <a:solidFill>
            <a:srgbClr val="F7FAFC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743200"/>
            <a:ext cx="54864" cy="1143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907792"/>
            <a:ext cx="48920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Об’єкт розробки</a:t>
            </a:r>
            <a:endParaRPr lang="uk-UA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3273552"/>
            <a:ext cx="48920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Серверна частина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вебсистеми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Dialogly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для обробки користувацьких запитів, чатів, інтеграцій та повідомлень.</a:t>
            </a:r>
            <a:endParaRPr lang="uk-UA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5212080" cy="1143000"/>
          </a:xfrm>
          <a:prstGeom prst="roundRect">
            <a:avLst>
              <a:gd name="adj" fmla="val 9600"/>
            </a:avLst>
          </a:prstGeom>
          <a:solidFill>
            <a:srgbClr val="F7FAFC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206240"/>
            <a:ext cx="54864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370832"/>
            <a:ext cx="48920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 дослідження</a:t>
            </a:r>
            <a:endParaRPr lang="uk-UA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4736592"/>
            <a:ext cx="48920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Архітектурні підходи, REST API, авторизація та управління даними у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мультиканальних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комунікаційних системах.</a:t>
            </a:r>
            <a:endParaRPr lang="uk-UA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1188720"/>
            <a:ext cx="4480560" cy="4389120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800" b="1" dirty="0" smtClean="0">
                <a:solidFill>
                  <a:srgbClr val="1F3B63"/>
                </a:solidFill>
              </a:rPr>
              <a:t>Серверна частина як ядро системи</a:t>
            </a:r>
            <a:endParaRPr lang="uk-UA" sz="1800" dirty="0"/>
          </a:p>
        </p:txBody>
      </p:sp>
      <p:sp>
        <p:nvSpPr>
          <p:cNvPr id="22" name="Shape 20"/>
          <p:cNvSpPr/>
          <p:nvPr/>
        </p:nvSpPr>
        <p:spPr>
          <a:xfrm>
            <a:off x="7040880" y="214884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0608" y="2231136"/>
            <a:ext cx="138074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JWT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15400" y="214884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25128" y="2231136"/>
            <a:ext cx="138074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40880" y="292608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0608" y="3008376"/>
            <a:ext cx="138074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915400" y="292608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25128" y="3008376"/>
            <a:ext cx="138074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40880" y="37033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0608" y="3785616"/>
            <a:ext cx="138074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&amp; Messages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915400" y="37033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25128" y="3785616"/>
            <a:ext cx="138074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uk-UA" sz="2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існуючих рішень</a:t>
            </a:r>
            <a:endParaRPr lang="uk-UA" sz="2400" dirty="0"/>
          </a:p>
        </p:txBody>
      </p:sp>
      <p:sp>
        <p:nvSpPr>
          <p:cNvPr id="6" name="Text 4"/>
          <p:cNvSpPr/>
          <p:nvPr/>
        </p:nvSpPr>
        <p:spPr>
          <a:xfrm>
            <a:off x="11384280" y="656539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Вебсистема Dialogly для централізованого управління бізнес-чатами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691808"/>
              </p:ext>
            </p:extLst>
          </p:nvPr>
        </p:nvGraphicFramePr>
        <p:xfrm>
          <a:off x="594360" y="1143000"/>
          <a:ext cx="10972800" cy="42976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100" b="1" noProof="0" dirty="0" smtClean="0">
                          <a:solidFill>
                            <a:srgbClr val="FFFFFF"/>
                          </a:solidFill>
                        </a:rPr>
                        <a:t>Критерій</a:t>
                      </a:r>
                      <a:endParaRPr lang="uk-UA" sz="11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100" b="1" noProof="0" dirty="0" err="1" smtClean="0">
                          <a:solidFill>
                            <a:srgbClr val="FFFFFF"/>
                          </a:solidFill>
                        </a:rPr>
                        <a:t>Twilio</a:t>
                      </a:r>
                      <a:endParaRPr lang="uk-UA" sz="11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100" b="1" noProof="0" dirty="0" err="1" smtClean="0">
                          <a:solidFill>
                            <a:srgbClr val="FFFFFF"/>
                          </a:solidFill>
                        </a:rPr>
                        <a:t>Zendesk</a:t>
                      </a:r>
                      <a:endParaRPr lang="uk-UA" sz="11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100" b="1" noProof="0" dirty="0" err="1" smtClean="0">
                          <a:solidFill>
                            <a:srgbClr val="FFFFFF"/>
                          </a:solidFill>
                        </a:rPr>
                        <a:t>Intercom</a:t>
                      </a:r>
                      <a:endParaRPr lang="uk-UA" sz="11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100" b="1" noProof="0" dirty="0" err="1" smtClean="0">
                          <a:solidFill>
                            <a:srgbClr val="FFFFFF"/>
                          </a:solidFill>
                        </a:rPr>
                        <a:t>Dialogly</a:t>
                      </a:r>
                      <a:endParaRPr lang="uk-UA" sz="11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REST API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наявний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наявний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наявний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наявний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Реальний час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підтримується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обмежено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частково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архітектурно передбачено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Рольова модель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відсутня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розвинена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базова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err="1" smtClean="0">
                          <a:solidFill>
                            <a:srgbClr val="111827"/>
                          </a:solidFill>
                        </a:rPr>
                        <a:t>Owner</a:t>
                      </a: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 / </a:t>
                      </a:r>
                      <a:r>
                        <a:rPr lang="uk-UA" sz="1000" noProof="0" dirty="0" err="1" smtClean="0">
                          <a:solidFill>
                            <a:srgbClr val="111827"/>
                          </a:solidFill>
                        </a:rPr>
                        <a:t>Admin</a:t>
                      </a: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 / </a:t>
                      </a:r>
                      <a:r>
                        <a:rPr lang="uk-UA" sz="1000" noProof="0" dirty="0" err="1" smtClean="0">
                          <a:solidFill>
                            <a:srgbClr val="111827"/>
                          </a:solidFill>
                        </a:rPr>
                        <a:t>Operator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Кілька </a:t>
                      </a:r>
                      <a:r>
                        <a:rPr lang="uk-UA" sz="1000" noProof="0" dirty="0" err="1" smtClean="0">
                          <a:solidFill>
                            <a:srgbClr val="111827"/>
                          </a:solidFill>
                        </a:rPr>
                        <a:t>workspace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ні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ні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ні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так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Гнучкість даних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висока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низька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середня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власна модель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22960" y="5715000"/>
            <a:ext cx="106070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uk-UA" sz="15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Висновок: для </a:t>
            </a:r>
            <a:r>
              <a:rPr lang="uk-UA" sz="1500" b="1" dirty="0" err="1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Dialogly</a:t>
            </a:r>
            <a:r>
              <a:rPr lang="uk-UA" sz="15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обрано власну серверну архітектуру, що підтримує кілька організаційних контекстів, рольовий доступ і розширення інтеграцій.</a:t>
            </a:r>
            <a:endParaRPr lang="uk-UA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uk-UA" sz="2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задачі</a:t>
            </a:r>
            <a:endParaRPr lang="uk-UA" sz="2400" dirty="0"/>
          </a:p>
        </p:txBody>
      </p:sp>
      <p:sp>
        <p:nvSpPr>
          <p:cNvPr id="6" name="Text 4"/>
          <p:cNvSpPr/>
          <p:nvPr/>
        </p:nvSpPr>
        <p:spPr>
          <a:xfrm>
            <a:off x="11384280" y="656539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Вебсистема Dialogly для централізованого управління бізнес-чатами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658368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uk-UA" sz="1600" b="1" dirty="0" smtClean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uk-UA" sz="16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спроєктувати</a:t>
            </a:r>
            <a:r>
              <a:rPr lang="uk-UA" sz="16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реляційну базу даних для користувачів, робочих просторів, інтеграцій, чатів і повідомлень;
</a:t>
            </a:r>
            <a:r>
              <a:rPr lang="uk-UA" sz="1600" b="1" dirty="0" smtClean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uk-UA" sz="16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реалізувати автентифікацію, авторизацію та безпечне зберігання паролів;
</a:t>
            </a:r>
            <a:r>
              <a:rPr lang="uk-UA" sz="1600" b="1" dirty="0" smtClean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uk-UA" sz="16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підтримати персональний режим і </a:t>
            </a:r>
            <a:r>
              <a:rPr lang="uk-UA" sz="16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r>
              <a:rPr lang="uk-UA" sz="16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-режим із розмежуванням прав;
</a:t>
            </a:r>
            <a:r>
              <a:rPr lang="uk-UA" sz="1600" b="1" dirty="0" smtClean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uk-UA" sz="16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розробити API для інтеграцій із зовнішніми </a:t>
            </a:r>
            <a:r>
              <a:rPr lang="uk-UA" sz="16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месенджерами</a:t>
            </a:r>
            <a:r>
              <a:rPr lang="uk-UA" sz="16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
</a:t>
            </a:r>
            <a:r>
              <a:rPr lang="uk-UA" sz="1600" b="1" dirty="0" smtClean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uk-UA" sz="16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уніфікувати обробку повідомлень з різних каналів;
</a:t>
            </a:r>
            <a:r>
              <a:rPr lang="uk-UA" sz="1600" b="1" dirty="0" smtClean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uk-UA" sz="16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забезпечити можливість подальшого масштабування системи.</a:t>
            </a:r>
            <a:endParaRPr lang="uk-UA" sz="1600" dirty="0"/>
          </a:p>
        </p:txBody>
      </p:sp>
      <p:sp>
        <p:nvSpPr>
          <p:cNvPr id="9" name="Shape 7"/>
          <p:cNvSpPr/>
          <p:nvPr/>
        </p:nvSpPr>
        <p:spPr>
          <a:xfrm>
            <a:off x="7818120" y="1033272"/>
            <a:ext cx="3566160" cy="4638866"/>
          </a:xfrm>
          <a:prstGeom prst="roundRect">
            <a:avLst>
              <a:gd name="adj" fmla="val 3846"/>
            </a:avLst>
          </a:prstGeom>
          <a:solidFill>
            <a:srgbClr val="EAF2FB"/>
          </a:solidFill>
          <a:ln w="12700">
            <a:solidFill>
              <a:srgbClr val="C7DD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0" y="1304449"/>
            <a:ext cx="25603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uk-UA" sz="15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Вхідний запит</a:t>
            </a:r>
            <a:endParaRPr lang="uk-UA" sz="1500" dirty="0"/>
          </a:p>
        </p:txBody>
      </p:sp>
      <p:sp>
        <p:nvSpPr>
          <p:cNvPr id="11" name="Shape 9"/>
          <p:cNvSpPr/>
          <p:nvPr/>
        </p:nvSpPr>
        <p:spPr>
          <a:xfrm rot="5400000">
            <a:off x="9235440" y="1772008"/>
            <a:ext cx="731520" cy="320040"/>
          </a:xfrm>
          <a:prstGeom prst="chevron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uk-UA" sz="15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Перевірка доступу</a:t>
            </a:r>
            <a:endParaRPr lang="uk-UA" sz="1500" dirty="0"/>
          </a:p>
        </p:txBody>
      </p:sp>
      <p:sp>
        <p:nvSpPr>
          <p:cNvPr id="13" name="Shape 11"/>
          <p:cNvSpPr/>
          <p:nvPr/>
        </p:nvSpPr>
        <p:spPr>
          <a:xfrm rot="5400000">
            <a:off x="9227667" y="2711054"/>
            <a:ext cx="731520" cy="320040"/>
          </a:xfrm>
          <a:prstGeom prst="chevron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3223260"/>
            <a:ext cx="25603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uk-UA" sz="15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Бізнес-логіка</a:t>
            </a:r>
            <a:endParaRPr lang="uk-UA" sz="1500" dirty="0"/>
          </a:p>
        </p:txBody>
      </p:sp>
      <p:sp>
        <p:nvSpPr>
          <p:cNvPr id="15" name="Shape 13"/>
          <p:cNvSpPr/>
          <p:nvPr/>
        </p:nvSpPr>
        <p:spPr>
          <a:xfrm rot="5400000">
            <a:off x="9235440" y="3660219"/>
            <a:ext cx="731520" cy="320040"/>
          </a:xfrm>
          <a:prstGeom prst="chevron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4185999"/>
            <a:ext cx="25603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uk-UA" sz="15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Збереження даних</a:t>
            </a:r>
            <a:endParaRPr lang="uk-UA" sz="1500" dirty="0"/>
          </a:p>
        </p:txBody>
      </p:sp>
      <p:sp>
        <p:nvSpPr>
          <p:cNvPr id="17" name="Shape 15"/>
          <p:cNvSpPr/>
          <p:nvPr/>
        </p:nvSpPr>
        <p:spPr>
          <a:xfrm rot="5400000">
            <a:off x="9235440" y="4666059"/>
            <a:ext cx="731520" cy="320040"/>
          </a:xfrm>
          <a:prstGeom prst="chevron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5234464"/>
            <a:ext cx="25603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uk-UA" sz="15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Відповідь API</a:t>
            </a:r>
            <a:endParaRPr lang="uk-UA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uk-UA" sz="2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Функціональні та нефункціональні вимоги</a:t>
            </a:r>
            <a:endParaRPr lang="uk-UA" sz="2400" dirty="0"/>
          </a:p>
        </p:txBody>
      </p:sp>
      <p:sp>
        <p:nvSpPr>
          <p:cNvPr id="6" name="Text 4"/>
          <p:cNvSpPr/>
          <p:nvPr/>
        </p:nvSpPr>
        <p:spPr>
          <a:xfrm>
            <a:off x="11384280" y="656539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Вебсистема Dialogly для централізованого управління бізнес-чатами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097280"/>
            <a:ext cx="5303520" cy="306324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blurRad="88900" dist="31750" dir="5400000" rotWithShape="0">
              <a:srgbClr val="0F172A">
                <a:alpha val="8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248" y="1847088"/>
            <a:ext cx="49834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Функціональні вимоги</a:t>
            </a:r>
            <a:endParaRPr lang="uk-UA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231136"/>
            <a:ext cx="4983480" cy="1746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реєстрація, логін і JWT-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токени</a:t>
            </a:r>
            <a:endParaRPr lang="uk-UA" sz="1200" dirty="0" smtClean="0"/>
          </a:p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перший вхід користувача</a:t>
            </a:r>
            <a:endParaRPr lang="uk-UA" sz="1200" dirty="0" smtClean="0"/>
          </a:p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створення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-кодів</a:t>
            </a:r>
            <a:endParaRPr lang="uk-UA" sz="1200" dirty="0" smtClean="0"/>
          </a:p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ролі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uk-UA" sz="1200" dirty="0" smtClean="0"/>
          </a:p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керування інтеграціями</a:t>
            </a:r>
            <a:endParaRPr lang="uk-UA" sz="1200" dirty="0" smtClean="0"/>
          </a:p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чати, повідомлення, вкладення, статуси</a:t>
            </a:r>
            <a:endParaRPr lang="uk-UA" sz="1200" dirty="0" smtClean="0"/>
          </a:p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прочитання, архівування, нотатки, сповіщення</a:t>
            </a:r>
            <a:endParaRPr lang="uk-UA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097280"/>
            <a:ext cx="5303520" cy="306324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blurRad="88900" dist="31750" dir="5400000" rotWithShape="0">
              <a:srgbClr val="0F172A">
                <a:alpha val="8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64808" y="1847088"/>
            <a:ext cx="49834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Нефункціональні вимоги</a:t>
            </a:r>
            <a:endParaRPr lang="uk-UA" sz="1400" dirty="0"/>
          </a:p>
        </p:txBody>
      </p:sp>
      <p:sp>
        <p:nvSpPr>
          <p:cNvPr id="15" name="Text 13"/>
          <p:cNvSpPr/>
          <p:nvPr/>
        </p:nvSpPr>
        <p:spPr>
          <a:xfrm>
            <a:off x="6464808" y="2231136"/>
            <a:ext cx="4983480" cy="1746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взаємодія через REST API</a:t>
            </a:r>
            <a:endParaRPr lang="uk-UA" sz="1200" dirty="0" smtClean="0"/>
          </a:p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захищене передавання даних</a:t>
            </a:r>
            <a:endParaRPr lang="uk-UA" sz="1200" dirty="0" smtClean="0"/>
          </a:p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хешування паролів</a:t>
            </a:r>
            <a:endParaRPr lang="uk-UA" sz="1200" dirty="0" smtClean="0"/>
          </a:p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повторна серверна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валідація</a:t>
            </a:r>
            <a:endParaRPr lang="uk-UA" sz="1200" dirty="0" smtClean="0"/>
          </a:p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контроль доступу на основі ролей</a:t>
            </a:r>
            <a:endParaRPr lang="uk-UA" sz="1200" dirty="0" smtClean="0"/>
          </a:p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цілісність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зв’язків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 БД</a:t>
            </a:r>
            <a:endParaRPr lang="uk-UA" sz="1200" dirty="0" smtClean="0"/>
          </a:p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масштабованість і готовність до нових платформ</a:t>
            </a:r>
            <a:endParaRPr lang="uk-UA" sz="1200" dirty="0"/>
          </a:p>
        </p:txBody>
      </p:sp>
      <p:sp>
        <p:nvSpPr>
          <p:cNvPr id="16" name="Oval 15"/>
          <p:cNvSpPr/>
          <p:nvPr/>
        </p:nvSpPr>
        <p:spPr>
          <a:xfrm>
            <a:off x="859536" y="1316736"/>
            <a:ext cx="420624" cy="42062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FaClipboard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98" y="1426098"/>
            <a:ext cx="201899" cy="201899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6483096" y="1316736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FaShieldHalv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458" y="1426098"/>
            <a:ext cx="201899" cy="2018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uk-UA" sz="2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Вибір технологій розробки</a:t>
            </a:r>
            <a:endParaRPr lang="uk-UA" sz="2400" dirty="0"/>
          </a:p>
        </p:txBody>
      </p:sp>
      <p:sp>
        <p:nvSpPr>
          <p:cNvPr id="6" name="Text 4"/>
          <p:cNvSpPr/>
          <p:nvPr/>
        </p:nvSpPr>
        <p:spPr>
          <a:xfrm>
            <a:off x="11384280" y="656539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Вебсистема Dialogly для централізованого управління бізнес-чатами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3246120" cy="1325880"/>
          </a:xfrm>
          <a:prstGeom prst="roundRect">
            <a:avLst>
              <a:gd name="adj" fmla="val 8276"/>
            </a:avLst>
          </a:prstGeom>
          <a:solidFill>
            <a:srgbClr val="F7FAFC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234440"/>
            <a:ext cx="54864" cy="13258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399032"/>
            <a:ext cx="2926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1764792"/>
            <a:ext cx="29260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мова реалізації серверної логіки</a:t>
            </a:r>
            <a:endParaRPr lang="uk-UA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1234440"/>
            <a:ext cx="3246120" cy="1325880"/>
          </a:xfrm>
          <a:prstGeom prst="roundRect">
            <a:avLst>
              <a:gd name="adj" fmla="val 8276"/>
            </a:avLst>
          </a:prstGeom>
          <a:solidFill>
            <a:srgbClr val="F7FAFC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234440"/>
            <a:ext cx="54864" cy="1325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399032"/>
            <a:ext cx="2926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81728" y="1764792"/>
            <a:ext cx="29260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побудова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</a:t>
            </a:r>
            <a:endParaRPr lang="uk-UA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1234440"/>
            <a:ext cx="3246120" cy="1325880"/>
          </a:xfrm>
          <a:prstGeom prst="roundRect">
            <a:avLst>
              <a:gd name="adj" fmla="val 8276"/>
            </a:avLst>
          </a:prstGeom>
          <a:solidFill>
            <a:srgbClr val="F7FAFC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234440"/>
            <a:ext cx="54864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0768" y="1399032"/>
            <a:ext cx="2926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30768" y="1764792"/>
            <a:ext cx="29260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та робота з БД</a:t>
            </a:r>
            <a:endParaRPr lang="uk-UA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063240"/>
            <a:ext cx="3246120" cy="1325880"/>
          </a:xfrm>
          <a:prstGeom prst="roundRect">
            <a:avLst>
              <a:gd name="adj" fmla="val 8276"/>
            </a:avLst>
          </a:prstGeom>
          <a:solidFill>
            <a:srgbClr val="F7FAFC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063240"/>
            <a:ext cx="54864" cy="13258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3227832"/>
            <a:ext cx="2926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2688" y="3593592"/>
            <a:ext cx="29260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реляційне зберігання даних</a:t>
            </a:r>
            <a:endParaRPr lang="uk-UA" sz="1200" dirty="0"/>
          </a:p>
        </p:txBody>
      </p:sp>
      <p:sp>
        <p:nvSpPr>
          <p:cNvPr id="24" name="Shape 22"/>
          <p:cNvSpPr/>
          <p:nvPr/>
        </p:nvSpPr>
        <p:spPr>
          <a:xfrm>
            <a:off x="4480560" y="3063240"/>
            <a:ext cx="3246120" cy="1325880"/>
          </a:xfrm>
          <a:prstGeom prst="roundRect">
            <a:avLst>
              <a:gd name="adj" fmla="val 8276"/>
            </a:avLst>
          </a:prstGeom>
          <a:solidFill>
            <a:srgbClr val="F7FAFC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3063240"/>
            <a:ext cx="54864" cy="1325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3227832"/>
            <a:ext cx="2926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81728" y="3593592"/>
            <a:ext cx="29260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авторизація і безпека</a:t>
            </a:r>
            <a:endParaRPr lang="uk-UA" sz="1200" dirty="0"/>
          </a:p>
        </p:txBody>
      </p:sp>
      <p:sp>
        <p:nvSpPr>
          <p:cNvPr id="28" name="Shape 26"/>
          <p:cNvSpPr/>
          <p:nvPr/>
        </p:nvSpPr>
        <p:spPr>
          <a:xfrm>
            <a:off x="8229600" y="3063240"/>
            <a:ext cx="3246120" cy="1325880"/>
          </a:xfrm>
          <a:prstGeom prst="roundRect">
            <a:avLst>
              <a:gd name="adj" fmla="val 8276"/>
            </a:avLst>
          </a:prstGeom>
          <a:solidFill>
            <a:srgbClr val="F7FAFC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0" y="3063240"/>
            <a:ext cx="54864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30768" y="3227832"/>
            <a:ext cx="2926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430768" y="3593592"/>
            <a:ext cx="29260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клієнтський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вебінтерфейс</a:t>
            </a:r>
            <a:endParaRPr lang="uk-UA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5577840"/>
            <a:ext cx="106070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uk-UA" sz="15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Обраний стек дозволяє побудувати </a:t>
            </a:r>
            <a:r>
              <a:rPr lang="en-US" sz="15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</a:t>
            </a:r>
            <a:r>
              <a:rPr lang="uk-UA" sz="15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чітким розділенням </a:t>
            </a:r>
            <a:r>
              <a:rPr lang="uk-UA" sz="1500" b="1" dirty="0" err="1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відповідальностей</a:t>
            </a:r>
            <a:r>
              <a:rPr lang="uk-UA" sz="15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реляційною моделлю даних і контрольованим доступом до ресурсів.</a:t>
            </a:r>
            <a:endParaRPr lang="uk-UA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uk-UA" sz="2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 програмної системи</a:t>
            </a:r>
            <a:endParaRPr lang="uk-UA" sz="2400" dirty="0"/>
          </a:p>
        </p:txBody>
      </p:sp>
      <p:sp>
        <p:nvSpPr>
          <p:cNvPr id="6" name="Text 4"/>
          <p:cNvSpPr/>
          <p:nvPr/>
        </p:nvSpPr>
        <p:spPr>
          <a:xfrm>
            <a:off x="11384280" y="656539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Вебсистема Dialogly для централізованого управління бізнес-чатами</a:t>
            </a:r>
            <a:endParaRPr lang="en-US" sz="800" dirty="0"/>
          </a:p>
        </p:txBody>
      </p:sp>
      <p:pic>
        <p:nvPicPr>
          <p:cNvPr id="8" name="Image 0" descr="/mnt/data/dialogly_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76757"/>
            <a:ext cx="6400800" cy="508736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69480" y="1143000"/>
            <a:ext cx="4206240" cy="4343400"/>
          </a:xfrm>
          <a:prstGeom prst="roundRect">
            <a:avLst>
              <a:gd name="adj" fmla="val 2609"/>
            </a:avLst>
          </a:prstGeom>
          <a:solidFill>
            <a:srgbClr val="F7FAFC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69480" y="1143000"/>
            <a:ext cx="54864" cy="43434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70648" y="1307592"/>
            <a:ext cx="38862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Клієнт–серверна архітектура</a:t>
            </a:r>
            <a:endParaRPr lang="uk-UA" sz="1400" dirty="0"/>
          </a:p>
        </p:txBody>
      </p:sp>
      <p:sp>
        <p:nvSpPr>
          <p:cNvPr id="12" name="Text 9"/>
          <p:cNvSpPr/>
          <p:nvPr/>
        </p:nvSpPr>
        <p:spPr>
          <a:xfrm>
            <a:off x="7470648" y="1673352"/>
            <a:ext cx="3886200" cy="3657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взаємодіє з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Dialogly.Api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через HTTPS. Сервер обробляє запити, виконує бізнес-логіку, звертається до Microsoft SQL Server через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 інтегрується із зовнішніми API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месенджерів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uk-UA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uk-UA" sz="2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UML-</a:t>
            </a:r>
            <a:r>
              <a:rPr lang="uk-UA" sz="2400" b="1" dirty="0" err="1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проєктування</a:t>
            </a:r>
            <a:r>
              <a:rPr lang="uk-UA" sz="2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сценарії системи</a:t>
            </a:r>
            <a:endParaRPr lang="uk-UA" sz="2400" dirty="0"/>
          </a:p>
        </p:txBody>
      </p:sp>
      <p:sp>
        <p:nvSpPr>
          <p:cNvPr id="6" name="Text 4"/>
          <p:cNvSpPr/>
          <p:nvPr/>
        </p:nvSpPr>
        <p:spPr>
          <a:xfrm>
            <a:off x="11384280" y="656539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Вебсистема Dialogly для централізованого управління бізнес-чатами</a:t>
            </a:r>
            <a:endParaRPr lang="en-US" sz="800" dirty="0"/>
          </a:p>
        </p:txBody>
      </p:sp>
      <p:pic>
        <p:nvPicPr>
          <p:cNvPr id="8" name="Image 0" descr="/mnt/data/dialogly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19274"/>
            <a:ext cx="3474720" cy="44937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34840" y="1188720"/>
            <a:ext cx="3291840" cy="28803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blurRad="88900" dist="31750" dir="5400000" rotWithShape="0">
              <a:srgbClr val="0F172A">
                <a:alpha val="8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36008" y="1938528"/>
            <a:ext cx="29718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Актори</a:t>
            </a:r>
            <a:endParaRPr lang="uk-UA" sz="1400" dirty="0"/>
          </a:p>
        </p:txBody>
      </p:sp>
      <p:sp>
        <p:nvSpPr>
          <p:cNvPr id="12" name="Text 9"/>
          <p:cNvSpPr/>
          <p:nvPr/>
        </p:nvSpPr>
        <p:spPr>
          <a:xfrm>
            <a:off x="4636008" y="2322576"/>
            <a:ext cx="2971800" cy="1563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гість</a:t>
            </a:r>
            <a:endParaRPr lang="uk-UA" sz="1200" dirty="0" smtClean="0"/>
          </a:p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користувач</a:t>
            </a:r>
            <a:endParaRPr lang="uk-UA" sz="1200" dirty="0" smtClean="0"/>
          </a:p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адміністратор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uk-UA" sz="1200" dirty="0" smtClean="0"/>
          </a:p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зовнішні сервіси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і Messenger</a:t>
            </a:r>
            <a:endParaRPr lang="uk-UA" sz="1200" dirty="0"/>
          </a:p>
        </p:txBody>
      </p:sp>
      <p:sp>
        <p:nvSpPr>
          <p:cNvPr id="13" name="Shape 10"/>
          <p:cNvSpPr/>
          <p:nvPr/>
        </p:nvSpPr>
        <p:spPr>
          <a:xfrm>
            <a:off x="8046720" y="1188720"/>
            <a:ext cx="3291840" cy="28803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blurRad="88900" dist="31750" dir="5400000" rotWithShape="0">
              <a:srgbClr val="0F172A">
                <a:alpha val="8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47888" y="1938528"/>
            <a:ext cx="29718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Ключові сценарії</a:t>
            </a:r>
            <a:endParaRPr lang="uk-UA" sz="1400" dirty="0"/>
          </a:p>
        </p:txBody>
      </p:sp>
      <p:sp>
        <p:nvSpPr>
          <p:cNvPr id="16" name="Text 13"/>
          <p:cNvSpPr/>
          <p:nvPr/>
        </p:nvSpPr>
        <p:spPr>
          <a:xfrm>
            <a:off x="8247888" y="2322576"/>
            <a:ext cx="2971800" cy="1563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реєстрація та вхід</a:t>
            </a:r>
            <a:endParaRPr lang="uk-UA" sz="1200" dirty="0" smtClean="0"/>
          </a:p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перегляд і архівування чатів</a:t>
            </a:r>
            <a:endParaRPr lang="uk-UA" sz="1200" dirty="0" smtClean="0"/>
          </a:p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надсилання повідомлень</a:t>
            </a:r>
            <a:endParaRPr lang="uk-UA" sz="1200" dirty="0" smtClean="0"/>
          </a:p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керування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uk-UA" sz="1200" dirty="0" smtClean="0"/>
          </a:p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підключення інтеграцій</a:t>
            </a:r>
            <a:endParaRPr lang="uk-UA" sz="1200" dirty="0" smtClean="0"/>
          </a:p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обробка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вебхуків</a:t>
            </a:r>
            <a:endParaRPr lang="uk-UA" sz="1200" dirty="0"/>
          </a:p>
        </p:txBody>
      </p:sp>
      <p:sp>
        <p:nvSpPr>
          <p:cNvPr id="17" name="Oval 16"/>
          <p:cNvSpPr/>
          <p:nvPr/>
        </p:nvSpPr>
        <p:spPr>
          <a:xfrm>
            <a:off x="4654296" y="1408176"/>
            <a:ext cx="420624" cy="42062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FaUserGro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658" y="1517538"/>
            <a:ext cx="201899" cy="201899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8266176" y="1408176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aDiagramProj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538" y="1517538"/>
            <a:ext cx="201899" cy="2018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uk-UA" sz="2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ER-модель бази даних</a:t>
            </a:r>
            <a:endParaRPr lang="uk-UA" sz="2400" dirty="0"/>
          </a:p>
        </p:txBody>
      </p:sp>
      <p:sp>
        <p:nvSpPr>
          <p:cNvPr id="6" name="Text 4"/>
          <p:cNvSpPr/>
          <p:nvPr/>
        </p:nvSpPr>
        <p:spPr>
          <a:xfrm>
            <a:off x="11384280" y="656539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Вебсистема Dialogly для централізованого управління бізнес-чатами</a:t>
            </a:r>
            <a:endParaRPr lang="en-US" sz="800" dirty="0"/>
          </a:p>
        </p:txBody>
      </p:sp>
      <p:pic>
        <p:nvPicPr>
          <p:cNvPr id="8" name="Image 0" descr="/mnt/data/dialogly_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131" y="914400"/>
            <a:ext cx="2200578" cy="2148840"/>
          </a:xfrm>
          <a:prstGeom prst="rect">
            <a:avLst/>
          </a:prstGeom>
        </p:spPr>
      </p:pic>
      <p:pic>
        <p:nvPicPr>
          <p:cNvPr id="9" name="Image 1" descr="/mnt/data/dialogly_media/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1060719"/>
            <a:ext cx="3794760" cy="1856201"/>
          </a:xfrm>
          <a:prstGeom prst="rect">
            <a:avLst/>
          </a:prstGeom>
        </p:spPr>
      </p:pic>
      <p:pic>
        <p:nvPicPr>
          <p:cNvPr id="10" name="Image 2" descr="/mnt/data/dialogly_media/imag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2016" y="914400"/>
            <a:ext cx="3569847" cy="21488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22960" y="3657600"/>
            <a:ext cx="3200400" cy="13716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blurRad="88900" dist="31750" dir="5400000" rotWithShape="0">
              <a:srgbClr val="0F172A">
                <a:alpha val="82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1024128" y="3803904"/>
            <a:ext cx="28803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Користувачі та безпека</a:t>
            </a:r>
            <a:endParaRPr lang="uk-UA" sz="1400" dirty="0"/>
          </a:p>
        </p:txBody>
      </p:sp>
      <p:sp>
        <p:nvSpPr>
          <p:cNvPr id="14" name="Text 9"/>
          <p:cNvSpPr/>
          <p:nvPr/>
        </p:nvSpPr>
        <p:spPr>
          <a:xfrm>
            <a:off x="1024128" y="4114800"/>
            <a:ext cx="2880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UserSessions, PersonalAccounts, UserSettings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480560" y="3657600"/>
            <a:ext cx="3200400" cy="13716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blurRad="88900" dist="31750" dir="5400000" rotWithShape="0">
              <a:srgbClr val="0F172A">
                <a:alpha val="8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4681728" y="3803904"/>
            <a:ext cx="28803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Робочі простори</a:t>
            </a:r>
            <a:endParaRPr lang="uk-UA" sz="1400" dirty="0"/>
          </a:p>
        </p:txBody>
      </p:sp>
      <p:sp>
        <p:nvSpPr>
          <p:cNvPr id="18" name="Text 13"/>
          <p:cNvSpPr/>
          <p:nvPr/>
        </p:nvSpPr>
        <p:spPr>
          <a:xfrm>
            <a:off x="4681728" y="4114800"/>
            <a:ext cx="2880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Workspaces, WorkspaceMembers, Integrations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138160" y="3657600"/>
            <a:ext cx="3200400" cy="13716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blurRad="88900" dist="31750" dir="5400000" rotWithShape="0">
              <a:srgbClr val="0F172A">
                <a:alpha val="8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8339328" y="3803904"/>
            <a:ext cx="28803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Листування</a:t>
            </a:r>
            <a:endParaRPr lang="uk-UA" sz="1400" dirty="0"/>
          </a:p>
        </p:txBody>
      </p:sp>
      <p:sp>
        <p:nvSpPr>
          <p:cNvPr id="22" name="Text 17"/>
          <p:cNvSpPr/>
          <p:nvPr/>
        </p:nvSpPr>
        <p:spPr>
          <a:xfrm>
            <a:off x="8339328" y="4114800"/>
            <a:ext cx="2880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Contacts, Chats, Messages, MessageAttachments, MessageReads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uk-UA" sz="1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підтримує персональні </a:t>
            </a:r>
            <a:r>
              <a:rPr lang="uk-UA" sz="1400" b="1" dirty="0" err="1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акаунти</a:t>
            </a:r>
            <a:r>
              <a:rPr lang="uk-UA" sz="1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 корпоративні </a:t>
            </a:r>
            <a:r>
              <a:rPr lang="uk-UA" sz="1400" b="1" dirty="0" err="1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r>
              <a:rPr lang="uk-UA" sz="1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без дублювання зовнішніх інтеграцій.</a:t>
            </a:r>
            <a:endParaRPr lang="uk-UA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uk-UA" sz="2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</a:t>
            </a:r>
            <a:r>
              <a:rPr lang="uk-UA" sz="2400" b="1" dirty="0" err="1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двофакторної</a:t>
            </a:r>
            <a:r>
              <a:rPr lang="uk-UA" sz="2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автентифікації TOTP</a:t>
            </a:r>
            <a:endParaRPr lang="uk-UA" sz="2400" dirty="0"/>
          </a:p>
        </p:txBody>
      </p:sp>
      <p:sp>
        <p:nvSpPr>
          <p:cNvPr id="6" name="Text 4"/>
          <p:cNvSpPr/>
          <p:nvPr/>
        </p:nvSpPr>
        <p:spPr>
          <a:xfrm>
            <a:off x="11384280" y="656539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Вебсистема Dialogly для централізованого управління бізнес-чатами</a:t>
            </a:r>
            <a:endParaRPr lang="en-US" sz="800" dirty="0"/>
          </a:p>
        </p:txBody>
      </p:sp>
      <p:pic>
        <p:nvPicPr>
          <p:cNvPr id="8" name="Image 0" descr="/mnt/data/dialogly_media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66201"/>
            <a:ext cx="4389120" cy="361703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577839" y="1188720"/>
            <a:ext cx="5537573" cy="4343400"/>
          </a:xfrm>
          <a:prstGeom prst="roundRect">
            <a:avLst>
              <a:gd name="adj" fmla="val 2526"/>
            </a:avLst>
          </a:prstGeom>
          <a:solidFill>
            <a:srgbClr val="F7FAFC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77840" y="1188720"/>
            <a:ext cx="54864" cy="43434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79008" y="1353312"/>
            <a:ext cx="50292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Суть реалізації</a:t>
            </a:r>
            <a:endParaRPr lang="uk-UA" sz="1400" dirty="0"/>
          </a:p>
        </p:txBody>
      </p:sp>
      <p:sp>
        <p:nvSpPr>
          <p:cNvPr id="12" name="Text 9"/>
          <p:cNvSpPr/>
          <p:nvPr/>
        </p:nvSpPr>
        <p:spPr>
          <a:xfrm>
            <a:off x="5779008" y="1719072"/>
            <a:ext cx="5029200" cy="3657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підвищення безпеки передбачено TOTP-коди. Сервер отримує секретний ключ, обчислює часовий крок, формує HMAC-хеш, відбирає одноразовий код і порівнює його з кодом користувача з урахуванням допустимого інтервалу.</a:t>
            </a:r>
            <a:endParaRPr lang="uk-UA" sz="1200" dirty="0"/>
          </a:p>
        </p:txBody>
      </p:sp>
      <p:sp>
        <p:nvSpPr>
          <p:cNvPr id="13" name="Shape 10"/>
          <p:cNvSpPr/>
          <p:nvPr/>
        </p:nvSpPr>
        <p:spPr>
          <a:xfrm>
            <a:off x="5760720" y="4718556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23761" y="4796280"/>
            <a:ext cx="128930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uk-UA" sz="11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Безпека входу</a:t>
            </a:r>
            <a:endParaRPr lang="uk-UA" sz="1100" dirty="0"/>
          </a:p>
        </p:txBody>
      </p:sp>
      <p:sp>
        <p:nvSpPr>
          <p:cNvPr id="15" name="Shape 12"/>
          <p:cNvSpPr/>
          <p:nvPr/>
        </p:nvSpPr>
        <p:spPr>
          <a:xfrm>
            <a:off x="7415784" y="4718766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22240" y="4828767"/>
            <a:ext cx="160934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uk-UA" sz="11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Сесії користувача</a:t>
            </a:r>
            <a:endParaRPr lang="uk-UA" sz="1100" dirty="0"/>
          </a:p>
        </p:txBody>
      </p:sp>
      <p:sp>
        <p:nvSpPr>
          <p:cNvPr id="17" name="Shape 14"/>
          <p:cNvSpPr/>
          <p:nvPr/>
        </p:nvSpPr>
        <p:spPr>
          <a:xfrm>
            <a:off x="9384345" y="4721283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01539" y="4833339"/>
            <a:ext cx="133502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uk-UA" sz="11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Сповіщення про вхід</a:t>
            </a:r>
            <a:endParaRPr lang="uk-UA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uk-UA" sz="2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Прийняті програмні рішення</a:t>
            </a:r>
            <a:endParaRPr lang="uk-UA" sz="2400" dirty="0"/>
          </a:p>
        </p:txBody>
      </p:sp>
      <p:sp>
        <p:nvSpPr>
          <p:cNvPr id="6" name="Text 4"/>
          <p:cNvSpPr/>
          <p:nvPr/>
        </p:nvSpPr>
        <p:spPr>
          <a:xfrm>
            <a:off x="11384280" y="656539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Вебсистема Dialogly для централізованого управління бізнес-чатами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143000"/>
            <a:ext cx="3429000" cy="23317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blurRad="88900" dist="31750" dir="5400000" rotWithShape="0">
              <a:srgbClr val="0F172A">
                <a:alpha val="8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248" y="1892807"/>
            <a:ext cx="31089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Автентифікація</a:t>
            </a:r>
            <a:endParaRPr lang="uk-UA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276856"/>
            <a:ext cx="3108960" cy="10149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Реєстрація, логін, JWT-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токени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-хешування паролів, активні сесії та сповіщення про новий вхід.</a:t>
            </a:r>
            <a:endParaRPr lang="uk-UA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1143000"/>
            <a:ext cx="3429000" cy="23317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blurRad="88900" dist="31750" dir="5400000" rotWithShape="0">
              <a:srgbClr val="0F172A">
                <a:alpha val="8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0288" y="1892807"/>
            <a:ext cx="31089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400" b="1" dirty="0" err="1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r>
              <a:rPr lang="uk-UA" sz="1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-модель</a:t>
            </a:r>
            <a:endParaRPr lang="uk-UA" sz="1400" dirty="0"/>
          </a:p>
        </p:txBody>
      </p:sp>
      <p:sp>
        <p:nvSpPr>
          <p:cNvPr id="15" name="Text 13"/>
          <p:cNvSpPr/>
          <p:nvPr/>
        </p:nvSpPr>
        <p:spPr>
          <a:xfrm>
            <a:off x="4590288" y="2276856"/>
            <a:ext cx="3108960" cy="10149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 може працювати у персональному режимі або в кількох робочих просторах із ролями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uk-UA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143000"/>
            <a:ext cx="3429000" cy="23317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blurRad="88900" dist="31750" dir="5400000" rotWithShape="0">
              <a:srgbClr val="0F172A">
                <a:alpha val="8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39328" y="1892807"/>
            <a:ext cx="31089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інтеграцій</a:t>
            </a:r>
            <a:endParaRPr lang="uk-UA" sz="1400" dirty="0"/>
          </a:p>
        </p:txBody>
      </p:sp>
      <p:sp>
        <p:nvSpPr>
          <p:cNvPr id="19" name="Text 17"/>
          <p:cNvSpPr/>
          <p:nvPr/>
        </p:nvSpPr>
        <p:spPr>
          <a:xfrm>
            <a:off x="8339328" y="2276856"/>
            <a:ext cx="3108960" cy="10149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Зовнішній обліковий запис не може бути прив’язаний до кількох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акаунтів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або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одночасно.</a:t>
            </a:r>
            <a:endParaRPr lang="uk-UA" sz="1200" dirty="0"/>
          </a:p>
        </p:txBody>
      </p:sp>
      <p:sp>
        <p:nvSpPr>
          <p:cNvPr id="20" name="Oval 19"/>
          <p:cNvSpPr/>
          <p:nvPr/>
        </p:nvSpPr>
        <p:spPr>
          <a:xfrm>
            <a:off x="859536" y="1362456"/>
            <a:ext cx="420624" cy="420624"/>
          </a:xfrm>
          <a:prstGeom prst="ellipse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a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98" y="1471818"/>
            <a:ext cx="201899" cy="201899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4608576" y="1362456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FaUserGro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938" y="1471818"/>
            <a:ext cx="201899" cy="201899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8357616" y="13624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Fa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978" y="1471818"/>
            <a:ext cx="201899" cy="2018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uk-UA" sz="2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Багатоканальне надсилання та </a:t>
            </a:r>
            <a:r>
              <a:rPr lang="uk-UA" sz="2400" b="1" dirty="0" err="1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вебхуки</a:t>
            </a:r>
            <a:endParaRPr lang="uk-UA" sz="2400" dirty="0"/>
          </a:p>
        </p:txBody>
      </p:sp>
      <p:sp>
        <p:nvSpPr>
          <p:cNvPr id="6" name="Text 4"/>
          <p:cNvSpPr/>
          <p:nvPr/>
        </p:nvSpPr>
        <p:spPr>
          <a:xfrm>
            <a:off x="11384280" y="656539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Вебсистема Dialogly для централізованого управління бізнес-чатами</a:t>
            </a:r>
            <a:endParaRPr lang="en-US" sz="800" dirty="0"/>
          </a:p>
        </p:txBody>
      </p:sp>
      <p:pic>
        <p:nvPicPr>
          <p:cNvPr id="8" name="Image 0" descr="/mnt/data/dialogly_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52594"/>
            <a:ext cx="2926080" cy="4289972"/>
          </a:xfrm>
          <a:prstGeom prst="rect">
            <a:avLst/>
          </a:prstGeom>
        </p:spPr>
      </p:pic>
      <p:pic>
        <p:nvPicPr>
          <p:cNvPr id="9" name="Image 1" descr="/mnt/data/dialogly_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2139147"/>
            <a:ext cx="4434840" cy="271686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549640" y="1234440"/>
            <a:ext cx="2788920" cy="4343400"/>
          </a:xfrm>
          <a:prstGeom prst="roundRect">
            <a:avLst>
              <a:gd name="adj" fmla="val 3934"/>
            </a:avLst>
          </a:prstGeom>
          <a:solidFill>
            <a:srgbClr val="F7FAFC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549640" y="1234440"/>
            <a:ext cx="54864" cy="43434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750808" y="1399032"/>
            <a:ext cx="24688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Уніфікація каналів</a:t>
            </a:r>
            <a:endParaRPr lang="uk-UA" sz="1400" dirty="0"/>
          </a:p>
        </p:txBody>
      </p:sp>
      <p:sp>
        <p:nvSpPr>
          <p:cNvPr id="13" name="Text 9"/>
          <p:cNvSpPr/>
          <p:nvPr/>
        </p:nvSpPr>
        <p:spPr>
          <a:xfrm>
            <a:off x="8750808" y="1764792"/>
            <a:ext cx="2468880" cy="3657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TelegramService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і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MessengerService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мають власну логіку роботи з платформою, але всі повідомлення зводяться до єдиної структури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ChatService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 зберігаються в спільній моделі даних.</a:t>
            </a:r>
            <a:endParaRPr lang="uk-UA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uk-UA" sz="2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серверних модулів</a:t>
            </a:r>
            <a:endParaRPr lang="uk-UA" sz="2400" dirty="0"/>
          </a:p>
        </p:txBody>
      </p:sp>
      <p:sp>
        <p:nvSpPr>
          <p:cNvPr id="6" name="Text 4"/>
          <p:cNvSpPr/>
          <p:nvPr/>
        </p:nvSpPr>
        <p:spPr>
          <a:xfrm>
            <a:off x="11384280" y="656539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Вебсистема Dialogly для централізованого управління бізнес-чатами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005840"/>
            <a:ext cx="4937760" cy="109728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005840"/>
            <a:ext cx="54864" cy="10972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170432"/>
            <a:ext cx="46177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1536192"/>
            <a:ext cx="46177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реєстрація, логін, профіль</a:t>
            </a:r>
            <a:endParaRPr lang="uk-UA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005840"/>
            <a:ext cx="4937760" cy="109728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005840"/>
            <a:ext cx="54864" cy="10972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1170432"/>
            <a:ext cx="46177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WorkspaceController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0528" y="1536192"/>
            <a:ext cx="46177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та керування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uk-UA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514600"/>
            <a:ext cx="4937760" cy="109728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2514600"/>
            <a:ext cx="54864" cy="10972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2679192"/>
            <a:ext cx="46177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IntegrationsController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" y="3044952"/>
            <a:ext cx="46177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підключення каналів</a:t>
            </a:r>
            <a:endParaRPr lang="uk-UA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2514600"/>
            <a:ext cx="4937760" cy="109728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2514600"/>
            <a:ext cx="54864" cy="10972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2679192"/>
            <a:ext cx="46177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ChatsController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10528" y="3044952"/>
            <a:ext cx="46177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чатів і статуси</a:t>
            </a:r>
            <a:endParaRPr lang="uk-UA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023360"/>
            <a:ext cx="4937760" cy="109728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023360"/>
            <a:ext cx="54864" cy="10972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187952"/>
            <a:ext cx="46177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MessagesController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2688" y="4553712"/>
            <a:ext cx="46177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надсилання та отримання повідомлень</a:t>
            </a:r>
            <a:endParaRPr lang="uk-UA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4023360"/>
            <a:ext cx="4937760" cy="109728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4023360"/>
            <a:ext cx="54864" cy="10972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0528" y="4187952"/>
            <a:ext cx="46177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WebhooksController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10528" y="4553712"/>
            <a:ext cx="46177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обробка подій </a:t>
            </a:r>
            <a:r>
              <a:rPr lang="uk-UA" sz="12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r>
              <a:rPr lang="uk-UA" sz="12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/Messenger</a:t>
            </a:r>
            <a:endParaRPr lang="uk-UA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uk-UA" sz="1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розділено за доменними модулями, що спрощує підтримку, тестування та подальше розширення системи.</a:t>
            </a:r>
            <a:endParaRPr lang="uk-UA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uk-UA" sz="2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 розробленого програмного забезпечення</a:t>
            </a:r>
            <a:endParaRPr lang="uk-UA" sz="2400" dirty="0"/>
          </a:p>
        </p:txBody>
      </p:sp>
      <p:sp>
        <p:nvSpPr>
          <p:cNvPr id="6" name="Text 4"/>
          <p:cNvSpPr/>
          <p:nvPr/>
        </p:nvSpPr>
        <p:spPr>
          <a:xfrm>
            <a:off x="11384280" y="656539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Вебсистема Dialogly для централізованого управління бізнес-чатами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537036"/>
              </p:ext>
            </p:extLst>
          </p:nvPr>
        </p:nvGraphicFramePr>
        <p:xfrm>
          <a:off x="640080" y="1143000"/>
          <a:ext cx="10972800" cy="4297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100" b="1" noProof="0" dirty="0" smtClean="0">
                          <a:solidFill>
                            <a:srgbClr val="FFFFFF"/>
                          </a:solidFill>
                        </a:rPr>
                        <a:t>Підсистема</a:t>
                      </a:r>
                      <a:endParaRPr lang="uk-UA" sz="11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100" b="1" noProof="0" dirty="0" smtClean="0">
                          <a:solidFill>
                            <a:srgbClr val="FFFFFF"/>
                          </a:solidFill>
                        </a:rPr>
                        <a:t>Приклади перевірок</a:t>
                      </a:r>
                      <a:endParaRPr lang="uk-UA" sz="11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100" b="1" noProof="0" dirty="0" smtClean="0">
                          <a:solidFill>
                            <a:srgbClr val="FFFFFF"/>
                          </a:solidFill>
                        </a:rPr>
                        <a:t>Очікуваний результат</a:t>
                      </a:r>
                      <a:endParaRPr lang="uk-UA" sz="11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Автентифікація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реєстрація, логін, </a:t>
                      </a:r>
                      <a:r>
                        <a:rPr lang="uk-UA" sz="1000" noProof="0" dirty="0" err="1" smtClean="0">
                          <a:solidFill>
                            <a:srgbClr val="111827"/>
                          </a:solidFill>
                        </a:rPr>
                        <a:t>невалідні</a:t>
                      </a: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 дані, JWT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коректна авторизація або зрозуміла помилка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err="1" smtClean="0">
                          <a:solidFill>
                            <a:srgbClr val="111827"/>
                          </a:solidFill>
                        </a:rPr>
                        <a:t>Workspace</a:t>
                      </a: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 та інтеграції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створення </a:t>
                      </a:r>
                      <a:r>
                        <a:rPr lang="uk-UA" sz="1000" noProof="0" dirty="0" err="1" smtClean="0">
                          <a:solidFill>
                            <a:srgbClr val="111827"/>
                          </a:solidFill>
                        </a:rPr>
                        <a:t>workspace</a:t>
                      </a: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, </a:t>
                      </a:r>
                      <a:r>
                        <a:rPr lang="uk-UA" sz="1000" noProof="0" dirty="0" err="1" smtClean="0">
                          <a:solidFill>
                            <a:srgbClr val="111827"/>
                          </a:solidFill>
                        </a:rPr>
                        <a:t>invite</a:t>
                      </a: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 </a:t>
                      </a:r>
                      <a:r>
                        <a:rPr lang="uk-UA" sz="1000" noProof="0" dirty="0" err="1" smtClean="0">
                          <a:solidFill>
                            <a:srgbClr val="111827"/>
                          </a:solidFill>
                        </a:rPr>
                        <a:t>code</a:t>
                      </a: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, ролі, дублікати інтеграцій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доступ лише за роллю, дублікати блокуються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Повідомлення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створення чату, відправка тексту, вкладення, статуси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повідомлення зберігаються та відображаються правильно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TOTP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генерація, перевірка, прострочений код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код приймається лише у </a:t>
                      </a:r>
                      <a:r>
                        <a:rPr lang="uk-UA" sz="1000" noProof="0" dirty="0" err="1" smtClean="0">
                          <a:solidFill>
                            <a:srgbClr val="111827"/>
                          </a:solidFill>
                        </a:rPr>
                        <a:t>валідному</a:t>
                      </a:r>
                      <a:r>
                        <a:rPr lang="uk-UA" sz="1000" noProof="0" dirty="0" smtClean="0">
                          <a:solidFill>
                            <a:srgbClr val="111827"/>
                          </a:solidFill>
                        </a:rPr>
                        <a:t> інтервалі</a:t>
                      </a:r>
                      <a:endParaRPr lang="uk-UA" sz="1000" noProof="0" dirty="0"/>
                    </a:p>
                  </a:txBody>
                  <a:tcPr marL="45720" marR="45720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22960" y="5715000"/>
            <a:ext cx="106070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uk-UA" sz="15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Підхід: функціональні тест-кейси для основних сценаріїв і модульне тестування критичних алгоритмів безпеки.</a:t>
            </a:r>
            <a:endParaRPr lang="uk-UA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uk-UA" sz="24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</a:t>
            </a:r>
            <a:endParaRPr lang="uk-UA" sz="2400" dirty="0"/>
          </a:p>
        </p:txBody>
      </p:sp>
      <p:sp>
        <p:nvSpPr>
          <p:cNvPr id="6" name="Text 4"/>
          <p:cNvSpPr/>
          <p:nvPr/>
        </p:nvSpPr>
        <p:spPr>
          <a:xfrm>
            <a:off x="11384280" y="656539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Вебсистема Dialogly для централізованого управління бізнес-чатами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1143000"/>
            <a:ext cx="6858000" cy="4709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uk-UA" sz="1600" b="1" dirty="0" smtClean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uk-UA" sz="16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проведено аналіз предметної галузі та існуючих рішень у сфері </a:t>
            </a:r>
            <a:r>
              <a:rPr lang="uk-UA" sz="16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мультиканальних</a:t>
            </a:r>
            <a:r>
              <a:rPr lang="uk-UA" sz="16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комунікацій;
</a:t>
            </a:r>
            <a:r>
              <a:rPr lang="uk-UA" sz="1600" b="1" dirty="0" smtClean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uk-UA" sz="16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сформовано функціональні й нефункціональні вимоги до серверної частини </a:t>
            </a:r>
            <a:r>
              <a:rPr lang="uk-UA" sz="16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Dialogly</a:t>
            </a:r>
            <a:r>
              <a:rPr lang="uk-UA" sz="16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
</a:t>
            </a:r>
            <a:r>
              <a:rPr lang="uk-UA" sz="1600" b="1" dirty="0" smtClean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uk-UA" sz="16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спроєктовано</a:t>
            </a:r>
            <a:r>
              <a:rPr lang="uk-UA" sz="16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архітектуру, UML-діаграми та структуру бази даних;
</a:t>
            </a:r>
            <a:r>
              <a:rPr lang="uk-UA" sz="1600" b="1" dirty="0" smtClean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uk-UA" sz="16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 серверну логіку автентифікації, </a:t>
            </a:r>
            <a:r>
              <a:rPr lang="uk-UA" sz="16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r>
              <a:rPr lang="uk-UA" sz="16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-моделі, інтеграцій, чатів і повідомлень;
</a:t>
            </a:r>
            <a:r>
              <a:rPr lang="uk-UA" sz="1600" b="1" dirty="0" smtClean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uk-UA" sz="16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передбачено захист від дублювання інтеграцій та обробку </a:t>
            </a:r>
            <a:r>
              <a:rPr lang="uk-UA" sz="16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вебхуків</a:t>
            </a:r>
            <a:r>
              <a:rPr lang="uk-UA" sz="16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
</a:t>
            </a:r>
            <a:r>
              <a:rPr lang="uk-UA" sz="1600" b="1" dirty="0" smtClean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uk-UA" sz="16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проведено тестування основних сценаріїв і модуля TOTP.</a:t>
            </a:r>
            <a:endParaRPr lang="uk-UA" sz="1600" dirty="0"/>
          </a:p>
        </p:txBody>
      </p:sp>
      <p:sp>
        <p:nvSpPr>
          <p:cNvPr id="9" name="Shape 7"/>
          <p:cNvSpPr/>
          <p:nvPr/>
        </p:nvSpPr>
        <p:spPr>
          <a:xfrm>
            <a:off x="8138160" y="1280160"/>
            <a:ext cx="3246120" cy="2148840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blurRad="88900" dist="31750" dir="5400000" rotWithShape="0">
              <a:srgbClr val="0F172A">
                <a:alpha val="8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58200" y="2029968"/>
            <a:ext cx="26060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uk-UA" sz="1800" b="1" dirty="0" smtClean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Практична цінність</a:t>
            </a:r>
            <a:endParaRPr lang="uk-UA" sz="1800" dirty="0"/>
          </a:p>
        </p:txBody>
      </p:sp>
      <p:sp>
        <p:nvSpPr>
          <p:cNvPr id="11" name="Text 9"/>
          <p:cNvSpPr/>
          <p:nvPr/>
        </p:nvSpPr>
        <p:spPr>
          <a:xfrm>
            <a:off x="8458200" y="2414016"/>
            <a:ext cx="2606040" cy="83210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uk-UA" sz="17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Серверна частина формує основу для подальшого підключення реальних каналів комунікації та масштабування </a:t>
            </a:r>
            <a:r>
              <a:rPr lang="uk-UA" sz="1700" dirty="0" err="1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Dialogly</a:t>
            </a:r>
            <a:r>
              <a:rPr lang="uk-UA" sz="1700" dirty="0" smtClean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uk-UA" sz="1700" dirty="0"/>
          </a:p>
        </p:txBody>
      </p:sp>
      <p:sp>
        <p:nvSpPr>
          <p:cNvPr id="12" name="Oval 11"/>
          <p:cNvSpPr/>
          <p:nvPr/>
        </p:nvSpPr>
        <p:spPr>
          <a:xfrm>
            <a:off x="8357616" y="1499616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Fa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978" y="1608978"/>
            <a:ext cx="201899" cy="2018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24028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4200" b="1" dirty="0" smtClean="0">
                <a:solidFill>
                  <a:srgbClr val="1F3B63"/>
                </a:solidFill>
              </a:rPr>
              <a:t>Дякую за увагу!</a:t>
            </a:r>
            <a:endParaRPr lang="uk-UA" sz="4200" dirty="0"/>
          </a:p>
        </p:txBody>
      </p:sp>
      <p:sp>
        <p:nvSpPr>
          <p:cNvPr id="5" name="Text 3"/>
          <p:cNvSpPr/>
          <p:nvPr/>
        </p:nvSpPr>
        <p:spPr>
          <a:xfrm>
            <a:off x="1645920" y="3200400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900" dirty="0" smtClean="0">
                <a:solidFill>
                  <a:srgbClr val="64748B"/>
                </a:solidFill>
              </a:rPr>
              <a:t>Доповідь закінчено. Дозвольте перейти до демонстрації.</a:t>
            </a:r>
            <a:endParaRPr lang="uk-UA" sz="1900" dirty="0"/>
          </a:p>
        </p:txBody>
      </p:sp>
      <p:sp>
        <p:nvSpPr>
          <p:cNvPr id="7" name="Text 5"/>
          <p:cNvSpPr/>
          <p:nvPr/>
        </p:nvSpPr>
        <p:spPr>
          <a:xfrm>
            <a:off x="4800600" y="424281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384280" y="656539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1086</Words>
  <Application>Microsoft Office PowerPoint</Application>
  <PresentationFormat>Широкоэкранный</PresentationFormat>
  <Paragraphs>226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ХНУРЕ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Dialogly Back-end</dc:title>
  <dc:subject>Презентація до захисту кваліфікаційної роботи</dc:subject>
  <dc:creator>user</dc:creator>
  <cp:lastModifiedBy>user</cp:lastModifiedBy>
  <cp:revision>6</cp:revision>
  <dcterms:created xsi:type="dcterms:W3CDTF">2026-07-11T18:16:40Z</dcterms:created>
  <dcterms:modified xsi:type="dcterms:W3CDTF">2026-07-12T11:45:34Z</dcterms:modified>
</cp:coreProperties>
</file>